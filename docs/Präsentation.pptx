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70" r:id="rId3"/>
    <p:sldId id="272" r:id="rId4"/>
    <p:sldId id="268" r:id="rId5"/>
    <p:sldId id="269" r:id="rId6"/>
    <p:sldId id="275" r:id="rId7"/>
    <p:sldId id="277" r:id="rId8"/>
    <p:sldId id="271" r:id="rId9"/>
    <p:sldId id="278" r:id="rId10"/>
    <p:sldId id="274" r:id="rId11"/>
    <p:sldId id="262" r:id="rId12"/>
    <p:sldId id="280" r:id="rId13"/>
    <p:sldId id="279" r:id="rId14"/>
    <p:sldId id="281" r:id="rId15"/>
    <p:sldId id="261" r:id="rId16"/>
    <p:sldId id="282" r:id="rId17"/>
    <p:sldId id="284" r:id="rId18"/>
    <p:sldId id="283" r:id="rId19"/>
    <p:sldId id="260" r:id="rId20"/>
    <p:sldId id="286" r:id="rId21"/>
    <p:sldId id="285" r:id="rId22"/>
    <p:sldId id="259" r:id="rId23"/>
    <p:sldId id="287" r:id="rId24"/>
    <p:sldId id="288" r:id="rId25"/>
    <p:sldId id="267" r:id="rId26"/>
    <p:sldId id="266" r:id="rId2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5FF"/>
    <a:srgbClr val="00FFFF"/>
    <a:srgbClr val="F9A825"/>
    <a:srgbClr val="202124"/>
    <a:srgbClr val="2E7D32"/>
    <a:srgbClr val="6A1B9A"/>
    <a:srgbClr val="B71C1C"/>
    <a:srgbClr val="1565C0"/>
    <a:srgbClr val="3A3A3A"/>
    <a:srgbClr val="228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874" autoAdjust="0"/>
  </p:normalViewPr>
  <p:slideViewPr>
    <p:cSldViewPr snapToGrid="0" showGuides="1">
      <p:cViewPr varScale="1">
        <p:scale>
          <a:sx n="51" d="100"/>
          <a:sy n="51" d="100"/>
        </p:scale>
        <p:origin x="1188" y="4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512B53-C6B7-4191-A002-20C0092FE8D4}" type="datetimeFigureOut">
              <a:rPr lang="de-DE" smtClean="0"/>
              <a:t>16.05.2026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759398-7A10-47A7-B471-1005145A181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140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 Barcode speichert meistens numerische Informationen wie Produktnummern.</a:t>
            </a:r>
          </a:p>
          <a:p>
            <a:r>
              <a:rPr lang="de-DE" dirty="0"/>
              <a:t>QR-Codes können komplexere Daten speichern, zum Beispiel URLs, WLAN-Zugänge oder Kontaktdaten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0879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BB4FD-E39D-4ED3-8234-0EA81B69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EE4E09-E2B7-0664-E029-58FB2D967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8010D3-5E61-B548-9C3F-E3740DC88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B45FB-B44E-05A0-0891-E0731CE2C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38564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1200" b="1" dirty="0">
                <a:solidFill>
                  <a:schemeClr val="bg1"/>
                </a:solidFill>
                <a:latin typeface="Google Sans"/>
              </a:rPr>
              <a:t>Suchen:</a:t>
            </a:r>
            <a:r>
              <a:rPr lang="de-DE" altLang="de-DE" sz="1200" dirty="0">
                <a:solidFill>
                  <a:schemeClr val="bg1"/>
                </a:solidFill>
                <a:latin typeface="Google Sans"/>
              </a:rPr>
              <a:t> Finden von spezifischen Mustern innerhalb einer langen Zeichenfolge (z.B. eine Artikelnummer in einem QR-Code).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1200" b="1" dirty="0">
                <a:solidFill>
                  <a:schemeClr val="bg1"/>
                </a:solidFill>
                <a:latin typeface="Google Sans"/>
              </a:rPr>
              <a:t>Validieren (Überprüfung):</a:t>
            </a:r>
            <a:r>
              <a:rPr lang="de-DE" altLang="de-DE" sz="1200" dirty="0">
                <a:solidFill>
                  <a:schemeClr val="bg1"/>
                </a:solidFill>
                <a:latin typeface="Google Sans"/>
              </a:rPr>
              <a:t> Sicherstellen, dass die gescannten Daten das richtige Format haben (z.B. hat ein EAN-Barcode genau 13 Ziffern?).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1200" b="1" dirty="0">
                <a:solidFill>
                  <a:schemeClr val="bg1"/>
                </a:solidFill>
                <a:latin typeface="Google Sans"/>
              </a:rPr>
              <a:t>Extrahieren (Datenextraktion):</a:t>
            </a:r>
            <a:r>
              <a:rPr lang="de-DE" altLang="de-DE" sz="1200" dirty="0">
                <a:solidFill>
                  <a:schemeClr val="bg1"/>
                </a:solidFill>
                <a:latin typeface="Google Sans"/>
              </a:rPr>
              <a:t> Gezieltes Herausfiltern von Teilinformationen (z.B. nur das Haltbarkeitsdatum aus einem komplexen Datensatz).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1200" b="1" dirty="0">
                <a:solidFill>
                  <a:schemeClr val="bg1"/>
                </a:solidFill>
                <a:latin typeface="Google Sans"/>
              </a:rPr>
              <a:t>Manipulieren (Transformation):</a:t>
            </a:r>
            <a:r>
              <a:rPr lang="de-DE" altLang="de-DE" sz="1200" dirty="0">
                <a:solidFill>
                  <a:schemeClr val="bg1"/>
                </a:solidFill>
                <a:latin typeface="Google Sans"/>
              </a:rPr>
              <a:t> Ersetzen oder Umformatieren von Zeichenketten, bevor sie in die Datenbank gespeichert werden.</a:t>
            </a:r>
            <a:r>
              <a:rPr lang="de-DE" altLang="de-DE" sz="1200" dirty="0">
                <a:solidFill>
                  <a:schemeClr val="bg1"/>
                </a:solidFill>
              </a:rPr>
              <a:t> </a:t>
            </a:r>
            <a:endParaRPr lang="de-DE" altLang="de-DE" sz="12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4984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DEFINITION: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 Eine Methode, um Mengen von Zeichenketten basierend auf gemeinsamen Charakteristiken zu beschreiben.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ZWECK: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 Suchen, Bearbeiten und Manipulieren von Text und Daten.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SYNTAX: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 Eine spezifische Sprache außerhalb der normalen Java-Syntax (ähnlich wie Perl).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FLEXIBILITÄT: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oogle Sans"/>
              </a:rPr>
              <a:t> Von einfachen Zeichenfolgen bis hin zu komplexen logischen Mustern.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6207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</a:t>
            </a: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Eine kompilierte Darstellung eines regulären Ausdrucks.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Erstellung: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Besitzt keine öffentlichen Konstruktoren; wird über die statische Methode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Pattern.compile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erstellt.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Dient als Vorlage (Template) für den Suchvorgang.</a:t>
            </a:r>
          </a:p>
          <a:p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Matcher</a:t>
            </a: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"Engine", die das Pattern interpretiert und Abgleichoperationen (Matches)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durchführt.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Erstellung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Wird durch Aufruf der Methode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auf einem Pattern-Objekt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erzeugt.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Vergleicht das Muster mit der Eingabezeichenfolge (z. B. dem Scan-Ergebnis).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9479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759398-7A10-47A7-B471-1005145A181E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161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67331-0D84-BAAD-F64B-2F7F8AA15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4450"/>
            <a:ext cx="12192000" cy="1460377"/>
          </a:xfrm>
        </p:spPr>
        <p:txBody>
          <a:bodyPr anchor="b"/>
          <a:lstStyle>
            <a:lvl1pPr algn="ctr">
              <a:defRPr sz="6000">
                <a:latin typeface="Consolas" panose="020B0609020204030204" pitchFamily="49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86D20CE-02E8-07F8-7F51-57FCC1616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994" y="3233704"/>
            <a:ext cx="10912011" cy="2749846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681CB2-CB66-62CE-C2C9-1D9415A8B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DA9AB-0C4D-4965-9358-8FFF91301F7B}" type="datetime1">
              <a:rPr lang="de-DE" smtClean="0"/>
              <a:t>16.05.2026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F5FFF5-D0A3-68BA-2E64-D57934A19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7B968-A44F-01C2-419B-6141FE7A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0299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628A35FA-DB89-3FC9-C31A-320BD6D6937A}"/>
              </a:ext>
            </a:extLst>
          </p:cNvPr>
          <p:cNvSpPr/>
          <p:nvPr userDrawn="1"/>
        </p:nvSpPr>
        <p:spPr>
          <a:xfrm>
            <a:off x="838200" y="1869898"/>
            <a:ext cx="10515600" cy="4366516"/>
          </a:xfrm>
          <a:prstGeom prst="roundRect">
            <a:avLst/>
          </a:prstGeom>
          <a:solidFill>
            <a:schemeClr val="tx1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299843F-346B-6EC3-11DE-C0A4DCCF3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0481057-1824-5F9C-6219-19311671D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6E672-99C3-483D-BE0E-7BF0B1A9AC5A}" type="datetime1">
              <a:rPr lang="de-DE" smtClean="0"/>
              <a:t>16.05.2026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C2B8D8-5A8B-2546-58BF-BBCA758B7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E4AB99-303F-18ED-564F-4F1B42153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8036C5B-2A52-4B77-1CB2-DFAAA70DD5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68893" y="2315807"/>
            <a:ext cx="9854213" cy="602078"/>
          </a:xfrm>
          <a:solidFill>
            <a:srgbClr val="202124">
              <a:alpha val="89804"/>
            </a:srgbClr>
          </a:solidFill>
        </p:spPr>
        <p:txBody>
          <a:bodyPr/>
          <a:lstStyle>
            <a:lvl1pPr>
              <a:buNone/>
              <a:defRPr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de-DE" dirty="0"/>
              <a:t>Text Java Code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E9C948CA-57B5-07A8-9C2C-ED6CE4C5C0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31986" y="3364986"/>
            <a:ext cx="128027" cy="128027"/>
          </a:xfrm>
          <a:prstGeom prst="rect">
            <a:avLst/>
          </a:prstGeom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CCFD5A83-3DA8-906A-6E11-CBBB305B3508}"/>
              </a:ext>
            </a:extLst>
          </p:cNvPr>
          <p:cNvGrpSpPr/>
          <p:nvPr userDrawn="1"/>
        </p:nvGrpSpPr>
        <p:grpSpPr>
          <a:xfrm>
            <a:off x="1324868" y="2028597"/>
            <a:ext cx="700476" cy="108001"/>
            <a:chOff x="1387011" y="2188395"/>
            <a:chExt cx="700476" cy="108001"/>
          </a:xfrm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FF2ED188-25E9-361E-7840-C3472792B41B}"/>
                </a:ext>
              </a:extLst>
            </p:cNvPr>
            <p:cNvSpPr/>
            <p:nvPr userDrawn="1"/>
          </p:nvSpPr>
          <p:spPr>
            <a:xfrm>
              <a:off x="1387011" y="2188396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B5DE151-ED8B-317C-C715-3316EE91C601}"/>
                </a:ext>
              </a:extLst>
            </p:cNvPr>
            <p:cNvSpPr/>
            <p:nvPr userDrawn="1"/>
          </p:nvSpPr>
          <p:spPr>
            <a:xfrm>
              <a:off x="1683249" y="2188395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67CDEBB-842E-F295-0B63-1C2D66BD530B}"/>
                </a:ext>
              </a:extLst>
            </p:cNvPr>
            <p:cNvSpPr/>
            <p:nvPr userDrawn="1"/>
          </p:nvSpPr>
          <p:spPr>
            <a:xfrm>
              <a:off x="1979487" y="2188395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008289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62F4A-B2FD-CBD7-98C4-468832D15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74D607-8677-255B-34C3-3DE156CB5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/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AE6293-7051-0A8C-17AB-FDF5E4C50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FACAF-C9AE-4A78-9B35-4313DFFFB42A}" type="datetime1">
              <a:rPr lang="de-DE" smtClean="0"/>
              <a:t>16.05.2026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5F2A0B-2436-CBFD-4D34-9385A105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3EF980-ACE0-F829-487B-618C43AE6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0447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E37E1-65F8-4E88-F426-9AC664D7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18DBFC-7B03-6468-989D-3B93B4D1A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D43268-769F-7FB3-5A26-E55AF5A83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4481466-BF56-BB93-F603-834BE95D6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4E19FC-45F4-4E8A-A834-BBBAB1A5E710}" type="datetime1">
              <a:rPr lang="de-DE" smtClean="0"/>
              <a:t>16.05.2026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1843B7-412D-5BB1-678C-57825262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13E731C-4821-CB7C-77FD-695C738F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3502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ED811-FBB0-4457-36C6-7E62A0F4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5055AC-8C49-6B93-DE42-8DC993D91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5CEC90-CAB3-100E-E064-153C7914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C53B1-5848-6E3D-625E-D5E941C5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6071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46F510A-A8A4-580A-10A8-ED43FAD6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A31AE0-BF2D-C960-23E1-9C3B6B05E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EC3880-86F6-33B5-CC37-FD15433C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111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85495-2756-EA36-EED7-DDC19C752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0CC9EB-7E22-9AF2-3FED-FC87064E9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6AAD4FC-940F-FB82-84CB-9FAF4D50E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379939-F733-4ED1-2288-2BF80209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FB6AD-16C0-45CD-8B8F-8B1AA82EECDC}" type="datetime1">
              <a:rPr lang="de-DE" smtClean="0"/>
              <a:t>16.05.2026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3E83C2-5440-6AC3-333E-28ED8E4F5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C9D1F64-EF41-2161-1FA5-184FB17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646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D5434F-21D4-8CF0-833F-F3F6661E5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4287761-BEA6-FE35-DEE8-D772EECBB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69FF4A-0DC7-6888-9DAC-2385BB24B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855829-E7FD-3F4D-7D6A-C6100125E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23D8-F1F0-4A69-A6DD-E86644081154}" type="datetime1">
              <a:rPr lang="de-DE" smtClean="0"/>
              <a:t>16.05.2026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54E2E2-B49A-9044-F045-72C7B6B82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A1B1E4E-C1F1-C65D-86F2-8B6456F38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6991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>
            <a:alpha val="9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F06AD8-DA5B-94F6-92E6-34D348E9B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2EDAAC-0D48-61E7-460F-1F6CCE129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FBDFB7-5D52-87C2-34C3-DADCFFA80C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E5FF"/>
                </a:solidFill>
              </a:defRPr>
            </a:lvl1pPr>
          </a:lstStyle>
          <a:p>
            <a:fld id="{B9A6E672-99C3-483D-BE0E-7BF0B1A9AC5A}" type="datetime1">
              <a:rPr lang="de-DE" smtClean="0"/>
              <a:pPr/>
              <a:t>16.05.2026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6C089A-EA63-04F1-EBD7-FA4AB8208C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E. </a:t>
            </a:r>
            <a:r>
              <a:rPr lang="de-DE" dirty="0" err="1"/>
              <a:t>Mörz</a:t>
            </a:r>
            <a:r>
              <a:rPr lang="de-DE" dirty="0"/>
              <a:t>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58AB04-0D8E-1E3D-3A9F-C004C6E3D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E5FF"/>
                </a:solidFill>
              </a:defRPr>
            </a:lvl1pPr>
          </a:lstStyle>
          <a:p>
            <a:fld id="{C5A27200-5F91-40CC-836D-BF641FCA7F20}" type="slidenum">
              <a:rPr lang="de-DE" smtClean="0"/>
              <a:pPr/>
              <a:t>‹Nr.›</a:t>
            </a:fld>
            <a:endParaRPr lang="de-DE" dirty="0">
              <a:solidFill>
                <a:srgbClr val="00E5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39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54" r:id="rId5"/>
    <p:sldLayoutId id="2147483655" r:id="rId6"/>
    <p:sldLayoutId id="2147483656" r:id="rId7"/>
    <p:sldLayoutId id="2147483657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00E5FF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hsh.de/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aticon.com/search?word=unstructured%20data" TargetMode="External"/><Relationship Id="rId3" Type="http://schemas.openxmlformats.org/officeDocument/2006/relationships/hyperlink" Target="https://goqr.me/" TargetMode="External"/><Relationship Id="rId7" Type="http://schemas.openxmlformats.org/officeDocument/2006/relationships/hyperlink" Target="https://www.flaticon.com/free-icon/unstructured-data_4882588?term=unstructured+data&amp;page=1&amp;position=18&amp;origin=search&amp;related_id=4882588" TargetMode="External"/><Relationship Id="rId2" Type="http://schemas.openxmlformats.org/officeDocument/2006/relationships/hyperlink" Target="https://barcode.tec-it.com/de/EAN13?data=5901234123457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gnific.com/icon/application_15633980#fromView=keyword&amp;page=1&amp;position=17&amp;uuid=e5fc4c69-d299-4aa1-ba52-5e49cc61f819" TargetMode="External"/><Relationship Id="rId5" Type="http://schemas.openxmlformats.org/officeDocument/2006/relationships/hyperlink" Target="https://icons8.com/icons/set/java" TargetMode="External"/><Relationship Id="rId4" Type="http://schemas.openxmlformats.org/officeDocument/2006/relationships/hyperlink" Target="https://docs.oracle.com/javase/tutorial/essential/regex/" TargetMode="External"/><Relationship Id="rId9" Type="http://schemas.openxmlformats.org/officeDocument/2006/relationships/hyperlink" Target="https://docs.oracle.com/javase/8/docs/api/java/util/regex/Match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0F2F24-2F92-373A-D7E3-F3E4C6FC07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498" y="1087514"/>
            <a:ext cx="11555003" cy="936595"/>
          </a:xfrm>
        </p:spPr>
        <p:txBody>
          <a:bodyPr>
            <a:normAutofit fontScale="90000"/>
          </a:bodyPr>
          <a:lstStyle/>
          <a:p>
            <a:r>
              <a:rPr lang="de-DE" sz="4800" dirty="0"/>
              <a:t>Textanalyse &amp; QR-/Barcode-Erzeugung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71B0721-882A-F5AE-7848-579026EBD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994" y="2630021"/>
            <a:ext cx="10912011" cy="3033931"/>
          </a:xfrm>
        </p:spPr>
        <p:txBody>
          <a:bodyPr>
            <a:normAutofit/>
          </a:bodyPr>
          <a:lstStyle/>
          <a:p>
            <a:endParaRPr lang="de-DE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dirty="0"/>
              <a:t>Implementierung in Java mittels </a:t>
            </a:r>
            <a:r>
              <a:rPr lang="de-DE" dirty="0" err="1"/>
              <a:t>Regex</a:t>
            </a:r>
            <a:r>
              <a:rPr lang="de-DE" dirty="0"/>
              <a:t> e </a:t>
            </a:r>
            <a:r>
              <a:rPr lang="de-DE" dirty="0" err="1"/>
              <a:t>ZXing</a:t>
            </a:r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E.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</a:rPr>
              <a:t>Mörz</a:t>
            </a:r>
            <a:r>
              <a:rPr lang="de-DE" sz="2400" dirty="0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 |  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T.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</a:rPr>
              <a:t>Schemmel</a:t>
            </a:r>
            <a:r>
              <a:rPr lang="de-DE" sz="2000" dirty="0">
                <a:solidFill>
                  <a:srgbClr val="00E5FF"/>
                </a:solidFill>
                <a:latin typeface="Consolas" panose="020B0609020204030204" pitchFamily="49" charset="0"/>
              </a:rPr>
              <a:t> </a:t>
            </a:r>
            <a:r>
              <a:rPr lang="de-DE" sz="2400" dirty="0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|  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P.Leo</a:t>
            </a:r>
            <a:endParaRPr lang="de-DE" sz="2000" dirty="0">
              <a:solidFill>
                <a:srgbClr val="00E5FF"/>
              </a:solidFill>
              <a:latin typeface="Consolas" panose="020B0609020204030204" pitchFamily="49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946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4B8F5-0DE0-37A0-CEE2-B89E4C92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EE99079-A72A-CC6B-8DD4-89E05376225F}"/>
              </a:ext>
            </a:extLst>
          </p:cNvPr>
          <p:cNvSpPr/>
          <p:nvPr/>
        </p:nvSpPr>
        <p:spPr>
          <a:xfrm>
            <a:off x="987826" y="1269507"/>
            <a:ext cx="4680000" cy="720000"/>
          </a:xfrm>
          <a:prstGeom prst="roundRect">
            <a:avLst/>
          </a:prstGeom>
          <a:solidFill>
            <a:srgbClr val="F9A8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057072-8302-2C82-4307-95A8C54A7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CC34FF-8337-C0C3-2E93-CD833DB0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CEED18-E370-4F4D-7B40-370945F35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1FE19B7-41FE-1D38-769E-00A3FCB23FBD}"/>
              </a:ext>
            </a:extLst>
          </p:cNvPr>
          <p:cNvSpPr txBox="1"/>
          <p:nvPr/>
        </p:nvSpPr>
        <p:spPr>
          <a:xfrm>
            <a:off x="2500544" y="329050"/>
            <a:ext cx="720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50DCA9A-53D2-DBF5-A1D9-80FFD46BEE4C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6A60C50-64DF-E521-F01E-4A6B6DBD7ADD}"/>
              </a:ext>
            </a:extLst>
          </p:cNvPr>
          <p:cNvSpPr txBox="1"/>
          <p:nvPr/>
        </p:nvSpPr>
        <p:spPr>
          <a:xfrm>
            <a:off x="987826" y="2001345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Grundlagen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C6F2AF9-8FF6-C7AB-4891-6F598E074ACB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C2BEFF0-7E03-9071-1AD7-BF38D1621857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835E169-5316-AB9D-2149-5B13819F8D93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60CFF49-BA50-867E-46F5-2972CCBCD3A2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01CA042-D9DD-DA41-EE83-273DD077F886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167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5CCCDA-D7E5-1CC2-02C1-5B7F22B36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e-DE" sz="4000" dirty="0"/>
              <a:t>// Text Processing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E872CC-83EB-0334-A629-22D320B3D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FACAF-C9AE-4A78-9B35-4313DFFFB42A}" type="datetime1">
              <a:rPr lang="de-DE" smtClean="0"/>
              <a:t>16.05.2026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A88994-726A-5855-3116-71F99BB01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68162-5F26-9A61-67EC-BD4E46687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3</a:t>
            </a:fld>
            <a:endParaRPr lang="de-DE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BE5F0C1-0997-CC24-9906-086001E9D2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39844" y="4587995"/>
            <a:ext cx="8922379" cy="13695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76176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Automatisierte Analyse von Text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de-DE" altLang="de-DE" b="0" i="0" u="none" strike="noStrike" cap="none" normalizeH="0" baseline="0" dirty="0">
              <a:ln>
                <a:noFill/>
              </a:ln>
              <a:effectLst/>
              <a:latin typeface="+mn-lt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Umwandlung von unstrukturierten in strukturierte Daten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.</a:t>
            </a:r>
            <a:r>
              <a:rPr kumimoji="0" lang="de-DE" altLang="de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441631E-219B-81C6-5418-21FE0E3B9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034" y="1969220"/>
            <a:ext cx="900000" cy="900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1DD6F09C-1D15-7B0A-B10B-9C284C10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9034" y="1991440"/>
            <a:ext cx="900000" cy="900000"/>
          </a:xfrm>
          <a:prstGeom prst="rect">
            <a:avLst/>
          </a:prstGeom>
        </p:spPr>
      </p:pic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33464169-7D55-271D-E6C7-D28AE217D078}"/>
              </a:ext>
            </a:extLst>
          </p:cNvPr>
          <p:cNvSpPr/>
          <p:nvPr/>
        </p:nvSpPr>
        <p:spPr>
          <a:xfrm>
            <a:off x="1553034" y="3371415"/>
            <a:ext cx="1800000" cy="360000"/>
          </a:xfrm>
          <a:prstGeom prst="roundRect">
            <a:avLst/>
          </a:prstGeom>
          <a:solidFill>
            <a:srgbClr val="00E5FF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1"/>
                </a:solidFill>
              </a:rPr>
              <a:t>INPUT</a:t>
            </a:r>
            <a:endParaRPr lang="de-DE" b="1" dirty="0">
              <a:solidFill>
                <a:schemeClr val="bg1"/>
              </a:solidFill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F5865103-97F3-B464-6B48-1AD9A22AE011}"/>
              </a:ext>
            </a:extLst>
          </p:cNvPr>
          <p:cNvSpPr/>
          <p:nvPr/>
        </p:nvSpPr>
        <p:spPr>
          <a:xfrm>
            <a:off x="5051034" y="3387243"/>
            <a:ext cx="1800000" cy="360000"/>
          </a:xfrm>
          <a:prstGeom prst="roundRect">
            <a:avLst/>
          </a:prstGeom>
          <a:solidFill>
            <a:srgbClr val="00E5FF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1"/>
                </a:solidFill>
              </a:rPr>
              <a:t>PROCESS</a:t>
            </a:r>
            <a:endParaRPr lang="de-DE" b="1" dirty="0">
              <a:solidFill>
                <a:schemeClr val="bg1"/>
              </a:solidFill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081A6826-756C-6095-F97D-31C50803FC73}"/>
              </a:ext>
            </a:extLst>
          </p:cNvPr>
          <p:cNvSpPr/>
          <p:nvPr/>
        </p:nvSpPr>
        <p:spPr>
          <a:xfrm>
            <a:off x="8549034" y="3387243"/>
            <a:ext cx="1800000" cy="360000"/>
          </a:xfrm>
          <a:prstGeom prst="roundRect">
            <a:avLst/>
          </a:prstGeom>
          <a:solidFill>
            <a:srgbClr val="00E5FF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1"/>
                </a:solidFill>
              </a:rPr>
              <a:t>OUTPUT</a:t>
            </a:r>
            <a:endParaRPr lang="de-DE" b="1" dirty="0">
              <a:solidFill>
                <a:schemeClr val="bg1"/>
              </a:solidFill>
            </a:endParaRP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B36BED1-0A19-C4B4-4583-92F32387870D}"/>
              </a:ext>
            </a:extLst>
          </p:cNvPr>
          <p:cNvCxnSpPr>
            <a:cxnSpLocks/>
          </p:cNvCxnSpPr>
          <p:nvPr/>
        </p:nvCxnSpPr>
        <p:spPr>
          <a:xfrm>
            <a:off x="3581400" y="3566232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8E33A99-933F-2F4F-8BE7-91382EF7DE55}"/>
              </a:ext>
            </a:extLst>
          </p:cNvPr>
          <p:cNvCxnSpPr>
            <a:cxnSpLocks/>
          </p:cNvCxnSpPr>
          <p:nvPr/>
        </p:nvCxnSpPr>
        <p:spPr>
          <a:xfrm>
            <a:off x="7123771" y="3566232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9FA3899A-3F1F-EFFF-0EB7-5A00DC5A99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034" y="2018619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66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9695E-63C4-FC7C-1307-2E64C756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0" y="315536"/>
            <a:ext cx="7560000" cy="1080000"/>
          </a:xfrm>
        </p:spPr>
        <p:txBody>
          <a:bodyPr>
            <a:noAutofit/>
          </a:bodyPr>
          <a:lstStyle/>
          <a:p>
            <a:pPr algn="ctr"/>
            <a:br>
              <a:rPr lang="de-DE" sz="4000" dirty="0"/>
            </a:br>
            <a:r>
              <a:rPr lang="de-DE" sz="4000" dirty="0"/>
              <a:t>// Datenquellen &amp; </a:t>
            </a:r>
            <a:r>
              <a:rPr lang="de-DE" sz="4000" dirty="0" err="1"/>
              <a:t>Texformate</a:t>
            </a:r>
            <a:br>
              <a:rPr lang="de-DE" sz="4000" dirty="0"/>
            </a:br>
            <a:endParaRPr lang="de-DE" sz="4000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CB4346A7-58C4-6E66-BB99-1EF7FB831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1109" y="1680744"/>
            <a:ext cx="3254401" cy="144000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B78ADF-591C-0213-4D65-DBBE2C846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FACAF-C9AE-4A78-9B35-4313DFFFB42A}" type="datetime1">
              <a:rPr lang="de-DE" smtClean="0"/>
              <a:t>16.05.2026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CAA6D9-6C6F-ADA6-987F-B774DDA54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6135FC-C89F-E53C-03E7-B5F6CCB47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4</a:t>
            </a:fld>
            <a:endParaRPr lang="de-DE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5A8E3ED4-08B3-518D-71BD-71997BD3E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309" y="3823966"/>
            <a:ext cx="1980000" cy="1980000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A8398260-8E85-0B82-00C4-45150C2C9B9C}"/>
              </a:ext>
            </a:extLst>
          </p:cNvPr>
          <p:cNvSpPr txBox="1"/>
          <p:nvPr/>
        </p:nvSpPr>
        <p:spPr>
          <a:xfrm>
            <a:off x="5911787" y="1407920"/>
            <a:ext cx="587505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>
                <a:solidFill>
                  <a:schemeClr val="bg1"/>
                </a:solidFill>
              </a:rPr>
              <a:t>Barcode- und QR-Codes enthalten komplexe Datenströme</a:t>
            </a:r>
          </a:p>
          <a:p>
            <a:endParaRPr lang="de-DE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>
                <a:solidFill>
                  <a:schemeClr val="bg1"/>
                </a:solidFill>
              </a:rPr>
              <a:t>Diese Daten müssen analysiert und validiert werden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>
                <a:solidFill>
                  <a:schemeClr val="bg1"/>
                </a:solidFill>
              </a:rPr>
              <a:t>Reguläre Ausdrücke ermöglichen automatische Textanalyse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>
                <a:solidFill>
                  <a:schemeClr val="bg1"/>
                </a:solidFill>
              </a:rPr>
              <a:t>Java bietet dafür leistungsstarke </a:t>
            </a:r>
            <a:r>
              <a:rPr lang="de-DE" sz="2800" dirty="0" err="1">
                <a:solidFill>
                  <a:schemeClr val="bg1"/>
                </a:solidFill>
              </a:rPr>
              <a:t>Regex</a:t>
            </a:r>
            <a:r>
              <a:rPr lang="de-DE" sz="2800" dirty="0">
                <a:solidFill>
                  <a:schemeClr val="bg1"/>
                </a:solidFill>
              </a:rPr>
              <a:t>-Werkzeuge</a:t>
            </a:r>
          </a:p>
        </p:txBody>
      </p:sp>
    </p:spTree>
    <p:extLst>
      <p:ext uri="{BB962C8B-B14F-4D97-AF65-F5344CB8AC3E}">
        <p14:creationId xmlns:p14="http://schemas.microsoft.com/office/powerpoint/2010/main" val="2166259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A1D6A-5CB9-E5C4-6F13-A8ABAEE77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58F9F5-4033-4874-5902-2DA468510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0" y="316800"/>
            <a:ext cx="7560000" cy="1080000"/>
          </a:xfrm>
        </p:spPr>
        <p:txBody>
          <a:bodyPr>
            <a:noAutofit/>
          </a:bodyPr>
          <a:lstStyle/>
          <a:p>
            <a:pPr algn="ctr"/>
            <a:br>
              <a:rPr lang="de-DE" sz="4000" dirty="0"/>
            </a:br>
            <a:r>
              <a:rPr lang="de-DE" sz="4000" dirty="0"/>
              <a:t>// Datenquellen &amp; </a:t>
            </a:r>
            <a:r>
              <a:rPr lang="de-DE" sz="4000" dirty="0" err="1"/>
              <a:t>Texformate</a:t>
            </a:r>
            <a:r>
              <a:rPr lang="de-DE" sz="4000" dirty="0"/>
              <a:t> </a:t>
            </a:r>
            <a:br>
              <a:rPr lang="de-DE" sz="4000" dirty="0"/>
            </a:br>
            <a:endParaRPr lang="de-DE" sz="4000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AE13BEF-03F8-C791-E993-757D9A629D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1108" y="1614972"/>
            <a:ext cx="3254400" cy="144000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8F3500-C6E1-E88A-CF4B-303009A3E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FACAF-C9AE-4A78-9B35-4313DFFFB42A}" type="datetime1">
              <a:rPr lang="de-DE" smtClean="0"/>
              <a:t>16.05.2026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B9588E-130B-D887-600E-F964C620F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EA659-EFAE-D69D-EA36-C6C329A6A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5</a:t>
            </a:fld>
            <a:endParaRPr lang="de-DE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8592C8-F63F-BF05-4CEE-EFF2FF5C38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596" y="1254972"/>
            <a:ext cx="1980000" cy="19800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77E9172-2832-7F5D-A7FC-E4EC49994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244" y="3638584"/>
            <a:ext cx="5633192" cy="264589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7C38B95-DCA3-ADEB-3051-DDBC2549CE88}"/>
              </a:ext>
            </a:extLst>
          </p:cNvPr>
          <p:cNvSpPr txBox="1"/>
          <p:nvPr/>
        </p:nvSpPr>
        <p:spPr>
          <a:xfrm>
            <a:off x="1122722" y="3638584"/>
            <a:ext cx="4680000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E5FF"/>
                </a:solidFill>
              </a:rPr>
              <a:t>Struktur</a:t>
            </a:r>
            <a:r>
              <a:rPr lang="de-DE" dirty="0">
                <a:solidFill>
                  <a:schemeClr val="bg1"/>
                </a:solidFill>
              </a:rPr>
              <a:t>: 1D –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</a:rPr>
              <a:t>Numerische Daten (einfache Strings)</a:t>
            </a:r>
          </a:p>
          <a:p>
            <a:endParaRPr lang="de-DE" dirty="0">
              <a:solidFill>
                <a:schemeClr val="bg1"/>
              </a:solidFill>
            </a:endParaRPr>
          </a:p>
          <a:p>
            <a:r>
              <a:rPr lang="de-DE" b="1" dirty="0">
                <a:solidFill>
                  <a:srgbClr val="00E5FF"/>
                </a:solidFill>
              </a:rPr>
              <a:t>Kapazität</a:t>
            </a:r>
            <a:r>
              <a:rPr lang="de-DE" dirty="0">
                <a:solidFill>
                  <a:schemeClr val="bg1"/>
                </a:solidFill>
              </a:rPr>
              <a:t>: gering (nur Zahlen/</a:t>
            </a:r>
            <a:r>
              <a:rPr lang="de-DE" dirty="0" err="1">
                <a:solidFill>
                  <a:schemeClr val="bg1"/>
                </a:solidFill>
              </a:rPr>
              <a:t>Ids</a:t>
            </a:r>
            <a:r>
              <a:rPr lang="de-DE" dirty="0">
                <a:solidFill>
                  <a:schemeClr val="bg1"/>
                </a:solidFill>
              </a:rPr>
              <a:t>)</a:t>
            </a:r>
          </a:p>
          <a:p>
            <a:endParaRPr lang="de-DE" dirty="0">
              <a:solidFill>
                <a:schemeClr val="bg1"/>
              </a:solidFill>
            </a:endParaRPr>
          </a:p>
          <a:p>
            <a:r>
              <a:rPr lang="de-DE" b="1" dirty="0">
                <a:solidFill>
                  <a:srgbClr val="00E5FF"/>
                </a:solidFill>
              </a:rPr>
              <a:t>Typische Daten: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</a:rPr>
              <a:t>4006381333931 (EAN-13)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</a:rPr>
              <a:t>ID88922 (Code 128)</a:t>
            </a:r>
          </a:p>
          <a:p>
            <a:endParaRPr lang="de-DE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29C0BD0-0B81-37CD-F5B0-F6D946678F1B}"/>
              </a:ext>
            </a:extLst>
          </p:cNvPr>
          <p:cNvSpPr txBox="1"/>
          <p:nvPr/>
        </p:nvSpPr>
        <p:spPr>
          <a:xfrm>
            <a:off x="6911322" y="3642317"/>
            <a:ext cx="46800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E5FF"/>
                </a:solidFill>
              </a:rPr>
              <a:t>Struktur</a:t>
            </a:r>
            <a:r>
              <a:rPr lang="de-DE" dirty="0">
                <a:solidFill>
                  <a:schemeClr val="bg1"/>
                </a:solidFill>
              </a:rPr>
              <a:t>: 2D – Matrix (Fläche)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</a:rPr>
              <a:t>Alphanumerische Daten, Fehlerkorrektur (komplexe Strings</a:t>
            </a:r>
          </a:p>
          <a:p>
            <a:endParaRPr lang="de-DE" dirty="0">
              <a:solidFill>
                <a:schemeClr val="bg1"/>
              </a:solidFill>
            </a:endParaRPr>
          </a:p>
          <a:p>
            <a:r>
              <a:rPr lang="de-DE" b="1" dirty="0">
                <a:solidFill>
                  <a:srgbClr val="00E5FF"/>
                </a:solidFill>
              </a:rPr>
              <a:t>Kapazität</a:t>
            </a:r>
            <a:r>
              <a:rPr lang="de-DE" dirty="0">
                <a:solidFill>
                  <a:schemeClr val="bg1"/>
                </a:solidFill>
              </a:rPr>
              <a:t>: hoch (Texte, </a:t>
            </a:r>
            <a:r>
              <a:rPr lang="de-DE" dirty="0" err="1">
                <a:solidFill>
                  <a:schemeClr val="bg1"/>
                </a:solidFill>
              </a:rPr>
              <a:t>Urls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Vcards</a:t>
            </a:r>
            <a:r>
              <a:rPr lang="de-DE" dirty="0">
                <a:solidFill>
                  <a:schemeClr val="bg1"/>
                </a:solidFill>
              </a:rPr>
              <a:t>…)</a:t>
            </a:r>
          </a:p>
          <a:p>
            <a:endParaRPr lang="de-DE" dirty="0">
              <a:solidFill>
                <a:schemeClr val="bg1"/>
              </a:solidFill>
            </a:endParaRPr>
          </a:p>
          <a:p>
            <a:r>
              <a:rPr lang="de-DE" b="1" dirty="0">
                <a:solidFill>
                  <a:srgbClr val="00E5FF"/>
                </a:solidFill>
              </a:rPr>
              <a:t>Typische Daten: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https://dhsh.de</a:t>
            </a:r>
            <a:r>
              <a:rPr lang="de-DE" sz="1600" dirty="0">
                <a:solidFill>
                  <a:schemeClr val="bg1"/>
                </a:solidFill>
              </a:rPr>
              <a:t> (URL)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solidFill>
                  <a:schemeClr val="bg1"/>
                </a:solidFill>
              </a:rPr>
              <a:t>BEGIN:VCARD... (Kontaktdaten)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</a:rPr>
              <a:t>WIFI:S:MyNetwork;P:MyPassword</a:t>
            </a:r>
            <a:r>
              <a:rPr lang="en-US" sz="1600" dirty="0">
                <a:solidFill>
                  <a:schemeClr val="bg1"/>
                </a:solidFill>
              </a:rPr>
              <a:t>;; (Wi-Fi)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…</a:t>
            </a:r>
            <a:endParaRPr lang="de-DE" sz="1600" dirty="0">
              <a:solidFill>
                <a:schemeClr val="bg1"/>
              </a:solidFill>
            </a:endParaRPr>
          </a:p>
          <a:p>
            <a:endParaRPr lang="de-DE" sz="16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19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54EB57-D3E8-470F-C6CD-8D084D92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4B3D02F-DABF-3538-923A-A4E9F4AD9CEA}"/>
              </a:ext>
            </a:extLst>
          </p:cNvPr>
          <p:cNvSpPr/>
          <p:nvPr/>
        </p:nvSpPr>
        <p:spPr>
          <a:xfrm>
            <a:off x="987826" y="1269507"/>
            <a:ext cx="4680000" cy="720000"/>
          </a:xfrm>
          <a:prstGeom prst="roundRect">
            <a:avLst/>
          </a:prstGeom>
          <a:solidFill>
            <a:srgbClr val="F9A8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28B9E9B-9567-F7D6-DABC-0D6098DA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E278F36-6040-C306-2AAE-79528E933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567E0D-DAAA-E69E-161C-2068411DF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6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BCE4BC2-FA44-D1A7-5F5D-EAAE2A49BAF1}"/>
              </a:ext>
            </a:extLst>
          </p:cNvPr>
          <p:cNvSpPr txBox="1"/>
          <p:nvPr/>
        </p:nvSpPr>
        <p:spPr>
          <a:xfrm>
            <a:off x="2500544" y="329050"/>
            <a:ext cx="720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C275DB-159E-AF81-16A1-1E7538F9298A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56779FD-7603-8DF5-1BE9-E6C5FB7ED8D1}"/>
              </a:ext>
            </a:extLst>
          </p:cNvPr>
          <p:cNvSpPr txBox="1"/>
          <p:nvPr/>
        </p:nvSpPr>
        <p:spPr>
          <a:xfrm>
            <a:off x="987826" y="2001345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Grundlagen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C20036-45FF-3CC1-E5F5-AB7098DE7F55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3F2080C-3C4B-574C-8C37-A73556E4E9BA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D7F18D0-3972-6E1C-2CAE-AB9AB73CDDAD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150AC-B797-345C-3320-526978BAC8D3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B21F4C6-C7CE-B9B2-72A7-C6EB20EC49FF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935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C59625-0DB7-07DB-E042-89C2D52E5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BFA67F28-448B-3E83-8018-8AC03C996FAF}"/>
              </a:ext>
            </a:extLst>
          </p:cNvPr>
          <p:cNvSpPr/>
          <p:nvPr/>
        </p:nvSpPr>
        <p:spPr>
          <a:xfrm>
            <a:off x="984778" y="1963743"/>
            <a:ext cx="4680000" cy="720000"/>
          </a:xfrm>
          <a:prstGeom prst="roundRect">
            <a:avLst/>
          </a:prstGeom>
          <a:solidFill>
            <a:srgbClr val="2E7D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107BD5B-ED42-22BD-438F-9A5308140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DF3C90D-AE9D-BB13-E572-1E893D527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F33DFC-8080-414E-DBE5-1082D3C25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194F9C-72EA-560A-9B00-91B802309403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8CEB80-3D4E-356A-3355-0414A1ED03E3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B48D10D-4AC4-9DA0-421D-261E75948EA0}"/>
              </a:ext>
            </a:extLst>
          </p:cNvPr>
          <p:cNvSpPr txBox="1"/>
          <p:nvPr/>
        </p:nvSpPr>
        <p:spPr>
          <a:xfrm>
            <a:off x="987824" y="2001345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04A6C9-36A3-2DA8-7165-E13B18A14BE7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720B017-92D7-AB27-54E7-6669903B5EC7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597AC7F-F287-4CA9-ED0C-59D605883E33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A4F99F-781E-8746-B882-37E5F3520CFF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CD66F4E-FE3E-6B21-CE73-6D166E2DD45B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246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67226-697C-1B82-A366-CCE7D355F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Warum Reguläre Ausdrücke  </a:t>
            </a:r>
            <a:br>
              <a:rPr lang="de-DE" sz="4000" dirty="0"/>
            </a:b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B2D3E59-B418-783A-D6E4-C7C6742DA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DBAF33A-B5CC-FBBF-497A-67804447C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91BDDA-4E5A-0B0E-4F32-DE1E9922C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8</a:t>
            </a:fld>
            <a:endParaRPr lang="de-DE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0C97CB7-1FF1-7012-403E-3FC1321D8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8499"/>
            <a:ext cx="8015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7FA16C6B-74E0-4947-C673-1FAEB994C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382" y="3156559"/>
            <a:ext cx="10343418" cy="30390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de-DE" altLang="de-DE" sz="2800" b="1" dirty="0">
                <a:solidFill>
                  <a:schemeClr val="bg1"/>
                </a:solidFill>
              </a:rPr>
              <a:t>SUCHEN: </a:t>
            </a:r>
            <a:r>
              <a:rPr lang="de-DE" altLang="de-DE" sz="2800" dirty="0">
                <a:solidFill>
                  <a:schemeClr val="bg1"/>
                </a:solidFill>
              </a:rPr>
              <a:t>Gezieltes Finden von Mustern in Texten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VALIDIEREN: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de-DE" altLang="de-DE" sz="2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Prüfen, ob Daten einem bestimmten Format entsprechen (z. B. EAN-13)</a:t>
            </a:r>
            <a:endParaRPr kumimoji="0" lang="de-DE" altLang="de-DE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EXTRAHIEREN: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Isolieren von Teilinformationen aus einem Datensatz.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FORMATIEREN: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Umwandeln oder Ersetzen von Zeichenketten für die Datenbank.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5F60C7D6-0E47-D9F3-84F0-2A4775EAC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563" y="1339857"/>
            <a:ext cx="1080000" cy="4781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BF42F91-1C53-3655-FA7E-AA0D215C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4381" y="1631623"/>
            <a:ext cx="792000" cy="792000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046A17EB-CF7B-009D-DCEC-C4795561E3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169" y="1413017"/>
            <a:ext cx="900000" cy="90000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E8D7EFD-CD8D-3B07-188F-52DC9094DE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4012" y="1665618"/>
            <a:ext cx="1080000" cy="1080000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2EFA46E-0AD6-213A-A63A-8D3C54A9D3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3958" y="1401381"/>
            <a:ext cx="900000" cy="900000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ED069C73-09AF-4D67-4B05-3A437C15FD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2067" y="1841358"/>
            <a:ext cx="1207113" cy="164606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59B5A567-6FFA-0BB3-EC78-5A9E3EEB36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03" y="1803454"/>
            <a:ext cx="900000" cy="9000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F04210B7-4EC4-B807-BF3D-C567B35979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5002" y="1863017"/>
            <a:ext cx="1207113" cy="16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049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26FAB9-56CC-7204-F033-9BB30EF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Was sind Reguläre Ausdrücke (</a:t>
            </a:r>
            <a:r>
              <a:rPr lang="de-DE" dirty="0" err="1"/>
              <a:t>Regex</a:t>
            </a:r>
            <a:r>
              <a:rPr lang="de-DE" dirty="0"/>
              <a:t>) </a:t>
            </a:r>
            <a:br>
              <a:rPr lang="de-DE" sz="4000" dirty="0"/>
            </a:b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04B3A5B-C958-74C6-992A-DE63C558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E372DA-5C2E-D686-322D-A417E1251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7665C2-BBC5-D53A-4672-9B5303447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9</a:t>
            </a:fld>
            <a:endParaRPr lang="de-DE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5E5F484-7439-3D80-22A8-A9AA29CCB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356" y="2013315"/>
            <a:ext cx="6098088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de-DE" altLang="de-DE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Regex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beschreiben Textmuster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de-DE" altLang="de-DE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Sie ermöglichen Suche, Validierung und Datenextraktion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de-DE" altLang="de-DE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Java unterstützt </a:t>
            </a:r>
            <a:r>
              <a:rPr kumimoji="0" lang="de-DE" altLang="de-DE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Regex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über die </a:t>
            </a:r>
            <a:r>
              <a:rPr kumimoji="0" lang="de-DE" altLang="de-DE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Regex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API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27565FD5-269E-3EE5-CF61-A8FCCE120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222" y="1881143"/>
            <a:ext cx="1332000" cy="586980"/>
          </a:xfrm>
          <a:prstGeom prst="rect">
            <a:avLst/>
          </a:prstGeom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44198C8B-E9B5-5C44-1BF1-A27A2F23944E}"/>
              </a:ext>
            </a:extLst>
          </p:cNvPr>
          <p:cNvSpPr txBox="1"/>
          <p:nvPr/>
        </p:nvSpPr>
        <p:spPr>
          <a:xfrm>
            <a:off x="8017308" y="2630271"/>
            <a:ext cx="23935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/>
                </a:solidFill>
              </a:rPr>
              <a:t>5901234123457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7D1A1424-DC94-AE8F-661D-CA54A6802A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993840" y="3332048"/>
            <a:ext cx="565518" cy="415318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F09DEF60-3EE2-3FA7-0656-A664ED610551}"/>
              </a:ext>
            </a:extLst>
          </p:cNvPr>
          <p:cNvSpPr txBox="1"/>
          <p:nvPr/>
        </p:nvSpPr>
        <p:spPr>
          <a:xfrm>
            <a:off x="8079842" y="3927119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</a:rPr>
              <a:t>REGEX:  ^\d{13}$: </a:t>
            </a:r>
          </a:p>
        </p:txBody>
      </p:sp>
      <p:pic>
        <p:nvPicPr>
          <p:cNvPr id="36" name="Grafik 35">
            <a:extLst>
              <a:ext uri="{FF2B5EF4-FFF2-40B4-BE49-F238E27FC236}">
                <a16:creationId xmlns:a16="http://schemas.microsoft.com/office/drawing/2014/main" id="{1E9F347A-582F-4584-287C-62531FFF5F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8940" y="4507464"/>
            <a:ext cx="414564" cy="566977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50D15032-5F86-383E-A9CA-78D54C708281}"/>
              </a:ext>
            </a:extLst>
          </p:cNvPr>
          <p:cNvSpPr txBox="1"/>
          <p:nvPr/>
        </p:nvSpPr>
        <p:spPr>
          <a:xfrm>
            <a:off x="8153400" y="5328367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</a:rPr>
              <a:t>EAN-13 erkannt</a:t>
            </a:r>
          </a:p>
        </p:txBody>
      </p:sp>
    </p:spTree>
    <p:extLst>
      <p:ext uri="{BB962C8B-B14F-4D97-AF65-F5344CB8AC3E}">
        <p14:creationId xmlns:p14="http://schemas.microsoft.com/office/powerpoint/2010/main" val="221861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3C585E-BC03-20B4-C431-13843FE6E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11E3D69-5A4B-AA11-E9E7-97F5A6426A52}"/>
              </a:ext>
            </a:extLst>
          </p:cNvPr>
          <p:cNvSpPr/>
          <p:nvPr/>
        </p:nvSpPr>
        <p:spPr>
          <a:xfrm>
            <a:off x="984778" y="1963743"/>
            <a:ext cx="4680000" cy="720000"/>
          </a:xfrm>
          <a:prstGeom prst="roundRect">
            <a:avLst/>
          </a:prstGeom>
          <a:solidFill>
            <a:srgbClr val="2E7D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BB38BC-CD2E-EFF7-213C-B84EC8F8B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EAEA512-2000-6CF3-EC27-39DD6B59A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24ECBB-8E80-2F49-6995-E8CBB0F5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10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55D2EF0-FE03-C2F6-6141-ADC5DF2D4845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037FF-CAA3-4B44-845E-39D3EB2D516B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EB47CF3-D0A0-8299-BE89-7C0B1DF99244}"/>
              </a:ext>
            </a:extLst>
          </p:cNvPr>
          <p:cNvSpPr txBox="1"/>
          <p:nvPr/>
        </p:nvSpPr>
        <p:spPr>
          <a:xfrm>
            <a:off x="987824" y="2001345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DA109F0-69A2-F81D-DAEB-93E6EF008FF8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4B8FC11-9CF2-6208-8B55-F8C02B4409A2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A81C784-9E54-6C17-A002-B281BAB81479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C0FBF22-801F-D2FC-4F37-D2F3D035E785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7F696F-EBEF-BAEF-474C-D5835519F593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248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BF3E50-6991-9125-3161-4B44FD5E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359E79A-3BCB-636A-F5B5-6F528388B6A6}"/>
              </a:ext>
            </a:extLst>
          </p:cNvPr>
          <p:cNvSpPr/>
          <p:nvPr/>
        </p:nvSpPr>
        <p:spPr>
          <a:xfrm>
            <a:off x="987826" y="2709000"/>
            <a:ext cx="4680000" cy="720000"/>
          </a:xfrm>
          <a:prstGeom prst="roundRect">
            <a:avLst/>
          </a:prstGeom>
          <a:solidFill>
            <a:srgbClr val="6A1B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4154AEE-26F1-E1C1-7FCA-BD720D2BB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E228BC-2D6C-A7E2-7352-B66B56345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3348B6-0607-2BD0-F9E8-E7C08CF16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0EFD28-087A-2BB0-AA22-B7914597BEE3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29E743-03C2-1365-6A9B-45FD6FBB372A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8178C9A-340E-A946-1B1A-A71C060173CE}"/>
              </a:ext>
            </a:extLst>
          </p:cNvPr>
          <p:cNvSpPr txBox="1"/>
          <p:nvPr/>
        </p:nvSpPr>
        <p:spPr>
          <a:xfrm>
            <a:off x="987826" y="2001344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29DD21-EB86-D4A2-38EC-65830672084F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Java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952A8E1-A3BF-A243-0607-F265587DBD1C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B45D8F0-8FF4-291A-31A7-00E1BF2A6EF0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390B484-E866-1851-B2BD-4A2A66624831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921F182-B882-EA1A-9C13-FD71B1259AD7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027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E84705-81EF-3A59-33E0-BB95A6FC8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Die Java </a:t>
            </a:r>
            <a:r>
              <a:rPr lang="de-DE" dirty="0" err="1"/>
              <a:t>Regex</a:t>
            </a:r>
            <a:r>
              <a:rPr lang="de-DE" dirty="0"/>
              <a:t> API: Pattern &amp; </a:t>
            </a:r>
            <a:r>
              <a:rPr lang="de-DE" dirty="0" err="1"/>
              <a:t>Matcher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2135D4-3F42-D439-3CE6-3A9696F2A9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8501" y="2878293"/>
            <a:ext cx="4960800" cy="3531600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de-DE" sz="3000" b="1" dirty="0"/>
              <a:t>Pattern Class:</a:t>
            </a:r>
          </a:p>
          <a:p>
            <a:pPr marL="0" indent="0">
              <a:buNone/>
            </a:pPr>
            <a:endParaRPr lang="de-DE" b="1" dirty="0"/>
          </a:p>
          <a:p>
            <a:r>
              <a:rPr lang="de-DE" sz="3000" dirty="0"/>
              <a:t>Kompilierte Darstellung eines regulären Ausdrucks.</a:t>
            </a:r>
          </a:p>
          <a:p>
            <a:r>
              <a:rPr lang="de-DE" sz="3000" dirty="0"/>
              <a:t>Kein öffentlicher Konstruktor.</a:t>
            </a:r>
          </a:p>
          <a:p>
            <a:r>
              <a:rPr lang="de-DE" sz="3000" dirty="0"/>
              <a:t>Erstellung via</a:t>
            </a:r>
          </a:p>
          <a:p>
            <a:pPr marL="0" indent="0">
              <a:buNone/>
            </a:pPr>
            <a:r>
              <a:rPr lang="de-DE" dirty="0"/>
              <a:t>  - </a:t>
            </a:r>
            <a:r>
              <a:rPr lang="de-DE" sz="2600" dirty="0" err="1">
                <a:latin typeface="Consolas" panose="020B0609020204030204" pitchFamily="49" charset="0"/>
              </a:rPr>
              <a:t>Pattern.compile</a:t>
            </a:r>
            <a:r>
              <a:rPr lang="de-DE" sz="3000" dirty="0"/>
              <a:t>("</a:t>
            </a:r>
            <a:r>
              <a:rPr lang="de-DE" sz="3000" dirty="0" err="1"/>
              <a:t>regex</a:t>
            </a:r>
            <a:r>
              <a:rPr lang="de-DE" sz="3000" dirty="0"/>
              <a:t>").</a:t>
            </a:r>
            <a:endParaRPr lang="de-DE" dirty="0"/>
          </a:p>
          <a:p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2449E9-E035-65C9-69F6-A1D944D2A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93000" y="2878293"/>
            <a:ext cx="4960800" cy="3531600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de-DE" sz="3000" b="1" u="sng" dirty="0" err="1"/>
              <a:t>Matcher</a:t>
            </a:r>
            <a:r>
              <a:rPr lang="de-DE" sz="3000" b="1" u="sng" dirty="0"/>
              <a:t> Class:</a:t>
            </a:r>
          </a:p>
          <a:p>
            <a:pPr marL="0" indent="0">
              <a:buNone/>
            </a:pPr>
            <a:endParaRPr lang="de-DE" b="1" dirty="0"/>
          </a:p>
          <a:p>
            <a:r>
              <a:rPr lang="de-DE" sz="3000" dirty="0"/>
              <a:t>Der Motor, die das Pattern interpretiert.</a:t>
            </a:r>
          </a:p>
          <a:p>
            <a:r>
              <a:rPr lang="de-DE" sz="3000" dirty="0"/>
              <a:t>Führt Abgleichoperationen gegen einen Input-String aus.</a:t>
            </a:r>
          </a:p>
          <a:p>
            <a:r>
              <a:rPr lang="de-DE" sz="3000" dirty="0"/>
              <a:t>Erstellung via</a:t>
            </a:r>
          </a:p>
          <a:p>
            <a:pPr marL="0" indent="0">
              <a:buNone/>
            </a:pPr>
            <a:r>
              <a:rPr lang="de-DE" dirty="0"/>
              <a:t>  - </a:t>
            </a:r>
            <a:r>
              <a:rPr lang="de-DE" sz="2600" dirty="0" err="1">
                <a:latin typeface="Consolas" panose="020B0609020204030204" pitchFamily="49" charset="0"/>
              </a:rPr>
              <a:t>Pattern.matcher</a:t>
            </a:r>
            <a:r>
              <a:rPr lang="de-DE" sz="3000" dirty="0"/>
              <a:t>("</a:t>
            </a:r>
            <a:r>
              <a:rPr lang="de-DE" sz="3000" dirty="0" err="1"/>
              <a:t>input</a:t>
            </a:r>
            <a:r>
              <a:rPr lang="de-DE" sz="3000" dirty="0"/>
              <a:t>").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4D19D0D-9233-6CEE-770E-25097CB1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4E19FC-45F4-4E8A-A834-BBBAB1A5E710}" type="datetime1">
              <a:rPr lang="de-DE" smtClean="0"/>
              <a:t>16.05.2026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4A4D1D5-685D-DF73-D183-E5514CF8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31E51C-8975-D32C-21CC-FDEC436D4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12</a:t>
            </a:fld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3C6F9A4-695A-104E-9B8D-96916454016A}"/>
              </a:ext>
            </a:extLst>
          </p:cNvPr>
          <p:cNvSpPr txBox="1"/>
          <p:nvPr/>
        </p:nvSpPr>
        <p:spPr>
          <a:xfrm>
            <a:off x="1611160" y="1690688"/>
            <a:ext cx="99331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chemeClr val="bg1"/>
                </a:solidFill>
              </a:rPr>
              <a:t>Paket </a:t>
            </a:r>
            <a:r>
              <a:rPr lang="de-DE" sz="2800" b="1" dirty="0" err="1">
                <a:solidFill>
                  <a:schemeClr val="bg1"/>
                </a:solidFill>
              </a:rPr>
              <a:t>java.util.regex</a:t>
            </a:r>
            <a:r>
              <a:rPr lang="de-DE" sz="2800" b="1" dirty="0">
                <a:solidFill>
                  <a:schemeClr val="bg1"/>
                </a:solidFill>
              </a:rPr>
              <a:t> API:</a:t>
            </a:r>
            <a:r>
              <a:rPr lang="de-DE" sz="2800" dirty="0">
                <a:solidFill>
                  <a:schemeClr val="bg1"/>
                </a:solidFill>
              </a:rPr>
              <a:t> (Besteht primär aus drei Klassen)</a:t>
            </a:r>
          </a:p>
        </p:txBody>
      </p:sp>
    </p:spTree>
    <p:extLst>
      <p:ext uri="{BB962C8B-B14F-4D97-AF65-F5344CB8AC3E}">
        <p14:creationId xmlns:p14="http://schemas.microsoft.com/office/powerpoint/2010/main" val="82626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allAtOnce"/>
      <p:bldP spid="4" grpId="0" uiExpand="1" build="allAtOnce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5892E6-94E9-64B0-7286-E5F747794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Die Java </a:t>
            </a:r>
            <a:r>
              <a:rPr lang="de-DE" dirty="0" err="1"/>
              <a:t>Regex</a:t>
            </a:r>
            <a:r>
              <a:rPr lang="de-DE" dirty="0"/>
              <a:t> API: Pattern &amp; </a:t>
            </a:r>
            <a:r>
              <a:rPr lang="de-DE" dirty="0" err="1"/>
              <a:t>Matcher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71E400D-9D24-593E-FABB-063E383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BE8A56-DF12-C9C8-D917-D9A66F801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751D2B-19F2-3209-2395-FAF71219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13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605CF35-66FC-6466-8386-26EC454AF20A}"/>
              </a:ext>
            </a:extLst>
          </p:cNvPr>
          <p:cNvSpPr txBox="1"/>
          <p:nvPr/>
        </p:nvSpPr>
        <p:spPr>
          <a:xfrm>
            <a:off x="1661265" y="2305615"/>
            <a:ext cx="30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[ String (Regex) ]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9147F14-645C-2741-22C3-17569A15C79F}"/>
              </a:ext>
            </a:extLst>
          </p:cNvPr>
          <p:cNvCxnSpPr>
            <a:cxnSpLocks/>
          </p:cNvCxnSpPr>
          <p:nvPr/>
        </p:nvCxnSpPr>
        <p:spPr>
          <a:xfrm>
            <a:off x="4585570" y="3774184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E18B2BE-4CD4-6556-0B2F-E730B6056A99}"/>
              </a:ext>
            </a:extLst>
          </p:cNvPr>
          <p:cNvCxnSpPr>
            <a:cxnSpLocks/>
          </p:cNvCxnSpPr>
          <p:nvPr/>
        </p:nvCxnSpPr>
        <p:spPr>
          <a:xfrm>
            <a:off x="4585570" y="2599069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BCA7DF0C-C522-3A65-9BF2-7F43C2D1B9AC}"/>
              </a:ext>
            </a:extLst>
          </p:cNvPr>
          <p:cNvSpPr txBox="1"/>
          <p:nvPr/>
        </p:nvSpPr>
        <p:spPr>
          <a:xfrm>
            <a:off x="1661265" y="3483519"/>
            <a:ext cx="30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[ Pattern </a:t>
            </a:r>
            <a:r>
              <a:rPr lang="en-US" sz="2800" b="1" dirty="0" err="1">
                <a:solidFill>
                  <a:schemeClr val="bg1"/>
                </a:solidFill>
              </a:rPr>
              <a:t>Objekt</a:t>
            </a:r>
            <a:r>
              <a:rPr lang="en-US" sz="2800" b="1" dirty="0">
                <a:solidFill>
                  <a:schemeClr val="bg1"/>
                </a:solidFill>
              </a:rPr>
              <a:t>]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BA9FCA-0716-A80F-C124-52F893F6BA05}"/>
              </a:ext>
            </a:extLst>
          </p:cNvPr>
          <p:cNvCxnSpPr>
            <a:cxnSpLocks/>
          </p:cNvCxnSpPr>
          <p:nvPr/>
        </p:nvCxnSpPr>
        <p:spPr>
          <a:xfrm>
            <a:off x="9030222" y="2606763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5E9E9546-94A0-34D9-E07C-345AAE2B8F41}"/>
              </a:ext>
            </a:extLst>
          </p:cNvPr>
          <p:cNvSpPr txBox="1"/>
          <p:nvPr/>
        </p:nvSpPr>
        <p:spPr>
          <a:xfrm>
            <a:off x="5970222" y="2368236"/>
            <a:ext cx="30600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Pattern.compile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EFA59E0-7259-19D8-B565-491200D3DA10}"/>
              </a:ext>
            </a:extLst>
          </p:cNvPr>
          <p:cNvSpPr txBox="1"/>
          <p:nvPr/>
        </p:nvSpPr>
        <p:spPr>
          <a:xfrm>
            <a:off x="5970222" y="3483519"/>
            <a:ext cx="30600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Machter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(input)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99171DB-BA93-E8C4-51BF-DAD9BCD1DB39}"/>
              </a:ext>
            </a:extLst>
          </p:cNvPr>
          <p:cNvCxnSpPr>
            <a:cxnSpLocks/>
          </p:cNvCxnSpPr>
          <p:nvPr/>
        </p:nvCxnSpPr>
        <p:spPr>
          <a:xfrm>
            <a:off x="8669055" y="3753519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EF97DE1A-536E-FF09-C285-C7727B3E784B}"/>
              </a:ext>
            </a:extLst>
          </p:cNvPr>
          <p:cNvSpPr txBox="1"/>
          <p:nvPr/>
        </p:nvSpPr>
        <p:spPr>
          <a:xfrm>
            <a:off x="1661265" y="4618461"/>
            <a:ext cx="30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[ Matcher </a:t>
            </a:r>
            <a:r>
              <a:rPr lang="en-US" sz="2800" b="1" dirty="0" err="1">
                <a:solidFill>
                  <a:schemeClr val="bg1"/>
                </a:solidFill>
              </a:rPr>
              <a:t>Objekt</a:t>
            </a:r>
            <a:r>
              <a:rPr lang="en-US" sz="2800" b="1" dirty="0">
                <a:solidFill>
                  <a:schemeClr val="bg1"/>
                </a:solidFill>
              </a:rPr>
              <a:t>]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36734BD-8898-E4CD-FE01-E4ABE84377D6}"/>
              </a:ext>
            </a:extLst>
          </p:cNvPr>
          <p:cNvCxnSpPr>
            <a:cxnSpLocks/>
          </p:cNvCxnSpPr>
          <p:nvPr/>
        </p:nvCxnSpPr>
        <p:spPr>
          <a:xfrm>
            <a:off x="4775022" y="4888462"/>
            <a:ext cx="112441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2050313-6B7F-BE79-163A-6494784C0D01}"/>
              </a:ext>
            </a:extLst>
          </p:cNvPr>
          <p:cNvSpPr txBox="1"/>
          <p:nvPr/>
        </p:nvSpPr>
        <p:spPr>
          <a:xfrm>
            <a:off x="6029983" y="4649935"/>
            <a:ext cx="3564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matches() / find()</a:t>
            </a:r>
          </a:p>
        </p:txBody>
      </p:sp>
    </p:spTree>
    <p:extLst>
      <p:ext uri="{BB962C8B-B14F-4D97-AF65-F5344CB8AC3E}">
        <p14:creationId xmlns:p14="http://schemas.microsoft.com/office/powerpoint/2010/main" val="2357146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BFCD7-7C9D-E4E0-1D69-6A3D021CA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F0C4D351-1D2F-B826-5A0E-C22CDC4CD19F}"/>
              </a:ext>
            </a:extLst>
          </p:cNvPr>
          <p:cNvSpPr/>
          <p:nvPr/>
        </p:nvSpPr>
        <p:spPr>
          <a:xfrm>
            <a:off x="987826" y="2709000"/>
            <a:ext cx="4680000" cy="720000"/>
          </a:xfrm>
          <a:prstGeom prst="roundRect">
            <a:avLst/>
          </a:prstGeom>
          <a:solidFill>
            <a:srgbClr val="6A1B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A1BCF8-CE99-156A-BEA3-C33763577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6DF7966-4DC6-D96C-9396-89BEFEF6A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037A8F-EDD3-2556-1C4D-472DCAB8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14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1173B12-B776-5762-175F-748FD2480689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2F2A56-7DD8-0209-F480-F77D8FE2948A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D3F52B8-7C3D-0EF3-4831-0370DCC261E9}"/>
              </a:ext>
            </a:extLst>
          </p:cNvPr>
          <p:cNvSpPr txBox="1"/>
          <p:nvPr/>
        </p:nvSpPr>
        <p:spPr>
          <a:xfrm>
            <a:off x="987826" y="2001344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CB76710-CF6B-E889-BE3B-AF836CD1058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Java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25CF6B0-24F4-8D8A-0CDD-9022C0AEF316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C43104-1536-72F1-B26C-B4F58545275F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073F084-CBA2-6449-CB94-C0C968913304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63680CB-83C8-939A-E372-54C6298928A0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409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3F03E-2705-7DEB-44EF-60205F6D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BBF73051-53F1-5C21-FA7B-E31538906CDB}"/>
              </a:ext>
            </a:extLst>
          </p:cNvPr>
          <p:cNvSpPr/>
          <p:nvPr/>
        </p:nvSpPr>
        <p:spPr>
          <a:xfrm>
            <a:off x="987826" y="3411026"/>
            <a:ext cx="4680000" cy="720000"/>
          </a:xfrm>
          <a:prstGeom prst="roundRect">
            <a:avLst/>
          </a:prstGeom>
          <a:solidFill>
            <a:srgbClr val="B7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10889B4-47A2-C056-603C-8AE8793E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AC62F5-2F8D-9235-7274-64DEC9520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36E770-5823-8633-F4BB-C2F9509D7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A4DDAB-7B24-C26A-AC84-9CA4F90C75AB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E1FE54-6096-9478-C4E4-1C0490A2A61C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B0D9436-56F6-1FB4-F074-F22E12BF65DD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BEC346D-4A68-43AC-9806-250E7966775C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E021AF6-503A-74D9-B96B-D95473D0C654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BA46948-314E-31E5-F003-0F348F8ABE42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FFC857C-A6B6-9A91-5D03-6C6CD9B7EA11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88BB19-CBDE-2360-AD4D-4A856738D3EF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101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81E38C-8A52-4A58-1D3C-B51960EA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EAN-13 Validierung (Die Basis)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459FE19-4AA9-08A6-0D8B-EA9F8188D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6E672-99C3-483D-BE0E-7BF0B1A9AC5A}" type="datetime1">
              <a:rPr lang="de-DE" smtClean="0"/>
              <a:t>16.05.2026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1DC7588-2274-5649-32AE-2A65804C7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64B564F-7786-1E39-2856-4D9F5DE07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16</a:t>
            </a:fld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C420475-FD12-A341-5359-69CDECD0BC7F}"/>
              </a:ext>
            </a:extLst>
          </p:cNvPr>
          <p:cNvSpPr txBox="1"/>
          <p:nvPr/>
        </p:nvSpPr>
        <p:spPr>
          <a:xfrm>
            <a:off x="1570972" y="2261531"/>
            <a:ext cx="9782828" cy="4277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isValidEAN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ean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//Erstellung 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:</a:t>
            </a: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^ = Anfang String, \\d{13} = genau 13 Ziffer, $=ende String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"^</a:t>
            </a:r>
            <a:r>
              <a:rPr lang="de-DE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de-DE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d{13}$"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compile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//Vergleiche 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mit dem Parameter.</a:t>
            </a:r>
          </a:p>
          <a:p>
            <a:pPr>
              <a:lnSpc>
                <a:spcPts val="1425"/>
              </a:lnSpc>
              <a:buNone/>
            </a:pP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ean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//Er gibt "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" zurück, wenn er übereinstimmt, sonst "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"</a:t>
            </a: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de-DE" dirty="0">
                <a:solidFill>
                  <a:srgbClr val="BBBEBF"/>
                </a:solidFill>
                <a:latin typeface="Consolas" panose="020B0609020204030204" pitchFamily="49" charset="0"/>
              </a:rPr>
              <a:t>	 </a:t>
            </a:r>
            <a:r>
              <a:rPr lang="de-DE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matches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5720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79083-E69F-E8CC-B3EE-E7D2EFCE5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Datenextraktion mit Gruppen (QR-Code)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77F0FF-9E1D-C713-EC8F-E49B49122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6E672-99C3-483D-BE0E-7BF0B1A9AC5A}" type="datetime1">
              <a:rPr lang="de-DE" smtClean="0"/>
              <a:t>16.05.2026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267896-CAC5-BED9-F9F8-838DBB1DA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5891E9-D3F5-D88B-2D9F-E09E6AA7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17</a:t>
            </a:fld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2B763FC-F824-F27E-933C-1D2ED902F8C9}"/>
              </a:ext>
            </a:extLst>
          </p:cNvPr>
          <p:cNvSpPr txBox="1"/>
          <p:nvPr/>
        </p:nvSpPr>
        <p:spPr>
          <a:xfrm>
            <a:off x="1377863" y="2219781"/>
            <a:ext cx="9870509" cy="4319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extractPrice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qrData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//Erstellung 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:</a:t>
            </a: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"PRICE:(</a:t>
            </a:r>
            <a:r>
              <a:rPr lang="de-DE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de-DE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d+[.,]</a:t>
            </a:r>
            <a:r>
              <a:rPr lang="de-DE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de-DE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d+)"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compile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//Suche nach dem 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im Text des QR-Codes</a:t>
            </a:r>
          </a:p>
          <a:p>
            <a:pPr>
              <a:lnSpc>
                <a:spcPts val="1425"/>
              </a:lnSpc>
              <a:buNone/>
            </a:pP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qrData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//find() sucht nach einem Textabschnitt, der dem </a:t>
            </a:r>
            <a:r>
              <a:rPr lang="de-DE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Regex</a:t>
            </a:r>
            <a:r>
              <a:rPr lang="de-DE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entspricht.</a:t>
            </a:r>
          </a:p>
          <a:p>
            <a:pPr>
              <a:lnSpc>
                <a:spcPts val="1425"/>
              </a:lnSpc>
              <a:buNone/>
            </a:pP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()){</a:t>
            </a:r>
          </a:p>
          <a:p>
            <a:pPr>
              <a:lnSpc>
                <a:spcPts val="1425"/>
              </a:lnSpc>
              <a:buNone/>
            </a:pPr>
            <a:endParaRPr lang="de-DE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matcher</a:t>
            </a:r>
            <a:r>
              <a:rPr lang="de-DE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50581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7D095-DF95-07E6-07E6-34CE61DED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0E3E1C9-C758-B4AB-7FD2-15E6558C7610}"/>
              </a:ext>
            </a:extLst>
          </p:cNvPr>
          <p:cNvSpPr/>
          <p:nvPr/>
        </p:nvSpPr>
        <p:spPr>
          <a:xfrm>
            <a:off x="987826" y="3411026"/>
            <a:ext cx="4680000" cy="720000"/>
          </a:xfrm>
          <a:prstGeom prst="roundRect">
            <a:avLst/>
          </a:prstGeom>
          <a:solidFill>
            <a:srgbClr val="B7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01F95A-3CF7-CC7F-E8CB-2E7B270F4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9BF8A20-243D-91B4-5E14-4271F67E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C9A164-2BDF-E6B2-62D8-A59516335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18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CF1ED4-FB62-52F2-38D9-80BBB51A1ACF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913AC16-3512-B2D4-F94A-6848D268F80B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5A94804-F0DA-CCB8-5421-944A31834FE3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2FE4C47-8A23-2F97-FB66-3F50AA48D93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53F7BC-F5A6-3982-032C-FBAB74A003E5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730B3B-5CC5-9E54-E0ED-E543302396ED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4F7DB9C-6AFF-A009-AA43-CB8A68F836DE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6F70A71-99E0-3EC8-61FA-F799D4F54AA8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618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FF9A7-B814-A90C-DACD-96B2343F6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20DAA7-F590-06DD-B926-6687001FAD2A}"/>
              </a:ext>
            </a:extLst>
          </p:cNvPr>
          <p:cNvSpPr/>
          <p:nvPr/>
        </p:nvSpPr>
        <p:spPr>
          <a:xfrm>
            <a:off x="987826" y="4124815"/>
            <a:ext cx="4680000" cy="720000"/>
          </a:xfrm>
          <a:prstGeom prst="roundRect">
            <a:avLst/>
          </a:prstGeom>
          <a:solidFill>
            <a:srgbClr val="1565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A4D0809-A57F-2389-482A-719CA8671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9D93D4-39C7-7C38-F7E8-163D30C5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CC017-33A4-E45C-99C2-F84C72A5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19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671078A-DE96-48E2-F705-B7A8EF918EDE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A18295C-6E75-C5F4-2501-5E283E8DC709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402FB4E-1317-8F11-1B21-2D7863E1855A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D991AC5-A23C-1003-53E9-B9A48CEA659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3FDB0B-5819-E914-FAB2-99537FF88806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75D21D4-7F63-443C-C8AC-03BE8D70C6E4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QR-Code/Barcode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4729848-49D7-E4C5-4BEA-9DBFCEC65A98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DCB3D90-7D83-62DD-1B8A-FF211DCBA2A6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497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5A20D5-86D8-FDF3-B300-840A14FC0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</a:t>
            </a:r>
            <a:r>
              <a:rPr lang="de-DE" dirty="0" err="1"/>
              <a:t>Qr-Code</a:t>
            </a:r>
            <a:r>
              <a:rPr lang="de-DE" dirty="0"/>
              <a:t>/Barcode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09CF8F1-C93E-7AF9-CB65-468EF9C7E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F208AD-CFE4-63C9-03B4-02BA99F87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8BFEE7-CC5E-92F1-A632-8809434C4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61766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285E2-EF7E-1E81-843F-3AD7CE7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E3A0E12-D98E-98A6-E14E-38ECE16B4B2B}"/>
              </a:ext>
            </a:extLst>
          </p:cNvPr>
          <p:cNvSpPr/>
          <p:nvPr/>
        </p:nvSpPr>
        <p:spPr>
          <a:xfrm>
            <a:off x="987826" y="4124815"/>
            <a:ext cx="4680000" cy="720000"/>
          </a:xfrm>
          <a:prstGeom prst="roundRect">
            <a:avLst/>
          </a:prstGeom>
          <a:solidFill>
            <a:srgbClr val="1565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DF055C-0000-2B8E-30A0-F89612D20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FB9B389-FF60-30C3-53DB-D3BC9F3C8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8C926C-D83E-B464-706F-358F7A258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2B06432-6AB8-E29F-866F-1B60D4402AD5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D5981E4-D353-D206-9BB2-D3AF5436DD4B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50AD89-8FA9-0D43-4AE3-7219F8A209A6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25F294D-0775-78A6-A6A6-CF969E2FA92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D33AB17-086F-D2DB-3AD9-9C2217DDD318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155DA2-DF4C-ABB6-4FC8-65B856B1013B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QR-Code/Barcode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AB8E5F8-1FF8-0CBC-6B54-17D441AD4B64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08E25C4-DBD3-012B-DE34-3C80C4C1388E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421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795FD-5F54-39B3-16D9-3A76E18C3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89DEBA5E-C951-E7B1-F0EB-235494C72483}"/>
              </a:ext>
            </a:extLst>
          </p:cNvPr>
          <p:cNvSpPr/>
          <p:nvPr/>
        </p:nvSpPr>
        <p:spPr>
          <a:xfrm>
            <a:off x="987826" y="4781518"/>
            <a:ext cx="4680000" cy="720000"/>
          </a:xfrm>
          <a:prstGeom prst="roundRect">
            <a:avLst/>
          </a:prstGeom>
          <a:solidFill>
            <a:srgbClr val="228B2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61A55EB-BA02-AC9C-727C-5EB78AC4F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16E088-7855-8E56-7C2A-41F8573B4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4355EE-DB08-675D-CE60-C7995DBB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2031E-F14F-63CB-8E07-9BEC19AFF0ED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2D4D6A2-1D52-6FB5-CD9F-865E46DCF254}"/>
              </a:ext>
            </a:extLst>
          </p:cNvPr>
          <p:cNvSpPr txBox="1"/>
          <p:nvPr/>
        </p:nvSpPr>
        <p:spPr>
          <a:xfrm>
            <a:off x="987826" y="12695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42D005C-843E-2B3F-17E7-1C7AE5A6F5EF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A831B6-7892-4FC3-8BBC-A4D12278151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4D8CCC-7A88-DB08-7618-EE6218C2360B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4B509CE-1383-4292-D8EF-C11737AEB3ED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QR-Code/Barcode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AFFEC0F-D166-DB1A-4353-F9EE2E9D1AA1}"/>
              </a:ext>
            </a:extLst>
          </p:cNvPr>
          <p:cNvSpPr txBox="1"/>
          <p:nvPr/>
        </p:nvSpPr>
        <p:spPr>
          <a:xfrm>
            <a:off x="987826" y="48926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Rust Portierung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C6312BE-1A41-DD52-BA81-84FC05E87CC9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26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84500B-1D90-4C01-0E77-3B48B7F29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// Rust Portierung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42BC318-8769-3B19-22B3-C83740464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E7E8A9-DDD3-D911-3B9F-A75D8227C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126F37-CBDA-D8AA-34CB-A8D35DAB0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23906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81BF3-538F-EFE2-05A1-62C8A2AAA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2035E925-B160-C0BE-7C72-E84F9453AA3E}"/>
              </a:ext>
            </a:extLst>
          </p:cNvPr>
          <p:cNvSpPr/>
          <p:nvPr/>
        </p:nvSpPr>
        <p:spPr>
          <a:xfrm>
            <a:off x="987826" y="4781518"/>
            <a:ext cx="4680000" cy="720000"/>
          </a:xfrm>
          <a:prstGeom prst="roundRect">
            <a:avLst/>
          </a:prstGeom>
          <a:solidFill>
            <a:srgbClr val="228B2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E465C7-CC72-C895-4B46-41AC67F4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C105137-0504-4412-FF31-BCBDF2B6E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C4A68A3-DC36-D49D-D350-38F1C74E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24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CEBC9F5-431B-6AC1-A062-6CF824A80108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0E6CB0-4D1B-1898-8714-D3CBE039B6D9}"/>
              </a:ext>
            </a:extLst>
          </p:cNvPr>
          <p:cNvSpPr txBox="1"/>
          <p:nvPr/>
        </p:nvSpPr>
        <p:spPr>
          <a:xfrm>
            <a:off x="987826" y="12695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59414D1-3E6C-5460-973A-D48B21CA0AD4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F61B470-3085-328D-A7D6-222FD0483C7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53286F3-3C63-02E9-6511-9F860B99D654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F7EE3FE-ACCA-D41D-B7D5-3E698C328093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QR-Code/Barcode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2103EAC-B44D-1A2B-63F8-83E9B371973A}"/>
              </a:ext>
            </a:extLst>
          </p:cNvPr>
          <p:cNvSpPr txBox="1"/>
          <p:nvPr/>
        </p:nvSpPr>
        <p:spPr>
          <a:xfrm>
            <a:off x="987826" y="48926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Rust Portierung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285B07-659C-6C69-EF08-CBED9A08AB5F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77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0D9FC-1E65-032D-A8E9-8828FE330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40F8DAB0-53FE-C87E-66E2-94CE109DCFD3}"/>
              </a:ext>
            </a:extLst>
          </p:cNvPr>
          <p:cNvSpPr/>
          <p:nvPr/>
        </p:nvSpPr>
        <p:spPr>
          <a:xfrm>
            <a:off x="987826" y="5495344"/>
            <a:ext cx="4680000" cy="720000"/>
          </a:xfrm>
          <a:prstGeom prst="roundRect">
            <a:avLst/>
          </a:prstGeom>
          <a:solidFill>
            <a:srgbClr val="6E881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6E43180-C463-47BD-14EA-0426863C4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16.05.2026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92EED88-9532-5BB1-6F27-FE39F18B2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2B107B-0669-0D6D-5295-ACBDCE10A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7805413-2942-F643-C3F0-AA983DC18349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041473C-0516-5EE4-A7FC-9B65E70B7904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C0C8AE6-D4F7-E3DC-6C05-90F364578B86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544B33-763F-CEFC-898F-4EF498D12400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92F1277-CDE8-E88E-13DC-9035922EE7D4}"/>
              </a:ext>
            </a:extLst>
          </p:cNvPr>
          <p:cNvSpPr txBox="1"/>
          <p:nvPr/>
        </p:nvSpPr>
        <p:spPr>
          <a:xfrm>
            <a:off x="987826" y="3465020"/>
            <a:ext cx="43200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</a:p>
          <a:p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62F7508-1952-016D-7DC1-CD356899F422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QR-Code/Barcode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6B8D029-E75D-D40A-4B18-0F8537A862F8}"/>
              </a:ext>
            </a:extLst>
          </p:cNvPr>
          <p:cNvSpPr txBox="1"/>
          <p:nvPr/>
        </p:nvSpPr>
        <p:spPr>
          <a:xfrm>
            <a:off x="987826" y="48926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Rust Portierung  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C90F05-30AA-57D8-16B9-6A262F92ECB1}"/>
              </a:ext>
            </a:extLst>
          </p:cNvPr>
          <p:cNvSpPr txBox="1"/>
          <p:nvPr/>
        </p:nvSpPr>
        <p:spPr>
          <a:xfrm>
            <a:off x="987827" y="558848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801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7562D-2B54-37DE-8578-9B6FF8AB0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e-DE" sz="4000" dirty="0"/>
              <a:t>// QUELLEN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96DF6E-F7FE-1ED9-EAA6-C5E7BB97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16.05.2026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8F932D-4136-BE0C-77BD-4B2F03B31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84ADB3-B279-6C22-7283-33A24EFEA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26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E91ECD3-8015-7FE6-95AA-39AFBB794BB7}"/>
              </a:ext>
            </a:extLst>
          </p:cNvPr>
          <p:cNvSpPr txBox="1"/>
          <p:nvPr/>
        </p:nvSpPr>
        <p:spPr>
          <a:xfrm>
            <a:off x="838200" y="1583473"/>
            <a:ext cx="1060295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rgbClr val="00E5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https://barcode.tec-it.com/de/EAN13?data=5901234123457</a:t>
            </a:r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r>
              <a:rPr lang="de-DE" sz="1400" dirty="0">
                <a:solidFill>
                  <a:srgbClr val="00E5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https://goqr.me/</a:t>
            </a:r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r>
              <a:rPr lang="de-DE" sz="1400" dirty="0">
                <a:solidFill>
                  <a:srgbClr val="00E5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https://docs.oracle.com/javase/tutorial/essential/regex/</a:t>
            </a:r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https://icons8.com/icons/set/java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https://www.magnific.com/icon/application_15633980#fromView=keyword&amp;page=1&amp;position=17&amp;uuid=e5fc4c69-d299-4aa1-ba52-5e49cc61f819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https://www.flaticon.com/free-icon/unstructured-data_4882588?term=unstructured+data&amp;page=1&amp;position=18&amp;origin=search&amp;related_id=4882588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https://www.flaticon.com/search?word=unstructured%20data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https://docs.oracle.com/javase/8/docs/api/java/util/regex/Matcher.html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r>
              <a:rPr lang="en-US" sz="1400" dirty="0">
                <a:solidFill>
                  <a:srgbClr val="00E5FF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https://docs.oracle.com/javase/8/docs/api/java/util/regex/Matcher.html</a:t>
            </a:r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endParaRPr lang="en-US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rgbClr val="00E5FF"/>
              </a:solidFill>
            </a:endParaRPr>
          </a:p>
          <a:p>
            <a:endParaRPr lang="de-DE" sz="1400" dirty="0">
              <a:solidFill>
                <a:schemeClr val="bg1"/>
              </a:solidFill>
            </a:endParaRPr>
          </a:p>
          <a:p>
            <a:endParaRPr lang="de-DE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6029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1628</Words>
  <Application>Microsoft Office PowerPoint</Application>
  <PresentationFormat>Breitbild</PresentationFormat>
  <Paragraphs>341</Paragraphs>
  <Slides>26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2" baseType="lpstr">
      <vt:lpstr>Aptos</vt:lpstr>
      <vt:lpstr>Arial</vt:lpstr>
      <vt:lpstr>Consolas</vt:lpstr>
      <vt:lpstr>Google Sans</vt:lpstr>
      <vt:lpstr>Segoe UI</vt:lpstr>
      <vt:lpstr>Office</vt:lpstr>
      <vt:lpstr>Textanalyse &amp; QR-/Barcode-Erzeugung</vt:lpstr>
      <vt:lpstr>PowerPoint-Präsentation</vt:lpstr>
      <vt:lpstr>// Text Processing</vt:lpstr>
      <vt:lpstr> // Datenquellen &amp; Texformate </vt:lpstr>
      <vt:lpstr> // Datenquellen &amp; Texformate  </vt:lpstr>
      <vt:lpstr>PowerPoint-Präsentation</vt:lpstr>
      <vt:lpstr>PowerPoint-Präsentation</vt:lpstr>
      <vt:lpstr>// Warum Reguläre Ausdrücke   </vt:lpstr>
      <vt:lpstr>// Was sind Reguläre Ausdrücke (Regex)  </vt:lpstr>
      <vt:lpstr>PowerPoint-Präsentation</vt:lpstr>
      <vt:lpstr>PowerPoint-Präsentation</vt:lpstr>
      <vt:lpstr>// Die Java Regex API: Pattern &amp; Matcher</vt:lpstr>
      <vt:lpstr>// Die Java Regex API: Pattern &amp; Matcher</vt:lpstr>
      <vt:lpstr>PowerPoint-Präsentation</vt:lpstr>
      <vt:lpstr>PowerPoint-Präsentation</vt:lpstr>
      <vt:lpstr>// EAN-13 Validierung (Die Basis)</vt:lpstr>
      <vt:lpstr>// Datenextraktion mit Gruppen (QR-Code)</vt:lpstr>
      <vt:lpstr>PowerPoint-Präsentation</vt:lpstr>
      <vt:lpstr>PowerPoint-Präsentation</vt:lpstr>
      <vt:lpstr>// Qr-Code/Barcode</vt:lpstr>
      <vt:lpstr>PowerPoint-Präsentation</vt:lpstr>
      <vt:lpstr>PowerPoint-Präsentation</vt:lpstr>
      <vt:lpstr>// Rust Portierung</vt:lpstr>
      <vt:lpstr>PowerPoint-Präsentation</vt:lpstr>
      <vt:lpstr>PowerPoint-Präsentation</vt:lpstr>
      <vt:lpstr>// 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s5002885</dc:creator>
  <cp:lastModifiedBy>s5002885</cp:lastModifiedBy>
  <cp:revision>132</cp:revision>
  <dcterms:created xsi:type="dcterms:W3CDTF">2026-05-01T14:33:31Z</dcterms:created>
  <dcterms:modified xsi:type="dcterms:W3CDTF">2026-05-16T16:16:04Z</dcterms:modified>
</cp:coreProperties>
</file>